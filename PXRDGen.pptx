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CA442E-0014-4D5A-AD65-B5E3906CB7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3E9903C-8ABF-4B4D-BD7D-1BFD7D2C4B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2987F9-6584-4000-9F4F-321FD2DEE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B5F9-6434-4FE8-B9C0-710772A8773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2DF157-7CF7-41A5-BDE7-AD373A917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0764D7-69AB-4549-B53A-5010423A0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6ED9-D26B-45CD-92BC-19A2E82C7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602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007801-B096-40B6-9FD5-E36ACC465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6BBAC4-7517-40DC-BE68-657A8F958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6607B9-70B9-415A-991C-DC3B784C41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B5F9-6434-4FE8-B9C0-710772A8773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665259-2BCA-4732-8E6A-42D89B517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D61E67-72E5-4B3D-B275-27FC53C56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6ED9-D26B-45CD-92BC-19A2E82C7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9286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7F0137-0EA0-4274-8453-E380A9195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E32F2F0-A77B-480C-9C29-64B1172A4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5176BC-355A-44B8-B4CC-97218BF78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B5F9-6434-4FE8-B9C0-710772A8773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4EDBEA-7ECF-42A6-A8C5-9FE3D0E67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2FE4E8-B173-48DB-A36C-1A65523B8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6ED9-D26B-45CD-92BC-19A2E82C7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6111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31938C-CBA5-42EE-86A5-2D74455475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9F4ADB-8F74-4216-AC23-5499666348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7F54E7B-5E11-4828-9F8B-A2DD5BBA3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DFDD38-400D-42EC-A747-F9E1BF0AB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B5F9-6434-4FE8-B9C0-710772A8773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0FE375-3C12-4A2A-A53A-1D7D73006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5FDD84A-5538-48B4-B94C-D0A26E2D2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6ED9-D26B-45CD-92BC-19A2E82C7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38729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C936E-998C-4977-A1B0-4D0258515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005139-9EC9-42ED-9CC9-C465F3B3BB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024832-2A53-4DDE-BE60-5C4365F5B0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68EBC29-4890-44DB-BA8F-462844FE8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6771E70-B34F-4D76-BC15-497EB3D281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0EDC262-3C07-4649-B4BB-24EA18331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B5F9-6434-4FE8-B9C0-710772A8773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A0969E7-78DA-409B-87F4-0C29D396F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078AF25-DD4D-4616-9871-972E21453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6ED9-D26B-45CD-92BC-19A2E82C7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071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16A5DB-87A9-44D4-B298-76C71C111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A417C30-3834-430F-9518-9D65EEB46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B5F9-6434-4FE8-B9C0-710772A8773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CA5BF1C-0533-4BBC-A9F9-66DAC3088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F52F6BD-6226-4E7B-8BCA-6255A3835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6ED9-D26B-45CD-92BC-19A2E82C7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2303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E25E688-ACEC-448A-8BB8-D32A7A836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B5F9-6434-4FE8-B9C0-710772A8773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95766AC-1CAE-4EFC-8DD8-7E1C952E9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D16A51-1B9C-4C96-979D-16778FF0E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6ED9-D26B-45CD-92BC-19A2E82C7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7515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0623D0-2ABC-4A60-8111-752F9ECCB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2E71CF-0AE4-4BAB-AAB2-8B6D063E67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1309DF5-B908-41A2-AC28-618CD4A42F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A3439B-451C-4FAB-89AD-96E44FCE9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B5F9-6434-4FE8-B9C0-710772A8773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7ECFE9-BC53-4E6B-B80B-065208D2F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C92050-734C-4F7A-A2C8-1FCD475DE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6ED9-D26B-45CD-92BC-19A2E82C7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0259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88B2FB-E940-4DD4-AA20-E681A1B09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11BF580-2B7F-4228-B00B-21F6324C2F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9A5BCF6-BC9B-442F-853D-EE246C5A6B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BEC7C8E-6958-442F-85B3-9CD7BF378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B5F9-6434-4FE8-B9C0-710772A8773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004B2E5-5059-4C77-976D-1EC2437C0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205A43B-E48A-400A-957A-EA8402778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6ED9-D26B-45CD-92BC-19A2E82C7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068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89DB04-B966-4E49-AF71-C0E802703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2310577-0068-4E44-850A-0D436D1976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320452-B641-451E-8DA2-859B8B8D6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B5F9-6434-4FE8-B9C0-710772A8773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4E7EB3-5DA3-45DF-A1AD-CDA2F9B22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EDFD6F-2E47-4B6E-B212-362F103E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6ED9-D26B-45CD-92BC-19A2E82C7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6402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98C47C1-4EB1-463B-AA56-60C081F074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2377A73-5008-40CA-A857-3AB169326E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1C3983-82C7-49EB-8733-9BFC01D2E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B5F9-6434-4FE8-B9C0-710772A8773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DC6895B-C7B1-45D2-B98D-2262D48C2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01FEED0-A9FC-4CF2-B323-6BC80AE94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36ED9-D26B-45CD-92BC-19A2E82C7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11552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183A710-15BD-4533-92D2-7FC1D4649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07C7F0-CC48-4526-87BB-A5EF1331E2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484DBC-58BD-48C3-A8B4-11517E153F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CB5F9-6434-4FE8-B9C0-710772A8773B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5DC94F-5FAF-4831-B77D-0C128E5989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8DD168-F521-4D21-91B9-17AC005322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236ED9-D26B-45CD-92BC-19A2E82C7AD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9349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C21A226-320C-4D73-B820-FDF68EF45D6B}"/>
              </a:ext>
            </a:extLst>
          </p:cNvPr>
          <p:cNvSpPr txBox="1"/>
          <p:nvPr/>
        </p:nvSpPr>
        <p:spPr>
          <a:xfrm>
            <a:off x="1193471" y="2212196"/>
            <a:ext cx="855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PXRD</a:t>
            </a:r>
            <a:endParaRPr lang="zh-CN" altLang="en-US" dirty="0"/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8CD98002-1703-445C-9F4A-63C26A08771E}"/>
              </a:ext>
            </a:extLst>
          </p:cNvPr>
          <p:cNvCxnSpPr>
            <a:stCxn id="4" idx="3"/>
          </p:cNvCxnSpPr>
          <p:nvPr/>
        </p:nvCxnSpPr>
        <p:spPr>
          <a:xfrm>
            <a:off x="2048494" y="2396862"/>
            <a:ext cx="1068780" cy="534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5622E4BB-5AD3-4788-9D51-5C3B33060543}"/>
              </a:ext>
            </a:extLst>
          </p:cNvPr>
          <p:cNvSpPr txBox="1"/>
          <p:nvPr/>
        </p:nvSpPr>
        <p:spPr>
          <a:xfrm>
            <a:off x="5581404" y="2212196"/>
            <a:ext cx="373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Crystal Structure Generation 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FF010C2-666C-48AA-B74C-988D39280139}"/>
              </a:ext>
            </a:extLst>
          </p:cNvPr>
          <p:cNvSpPr txBox="1"/>
          <p:nvPr/>
        </p:nvSpPr>
        <p:spPr>
          <a:xfrm>
            <a:off x="3117274" y="2212196"/>
            <a:ext cx="1632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PXRD Encoder</a:t>
            </a:r>
            <a:endParaRPr lang="zh-CN" altLang="en-US" dirty="0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509B9D86-ABFC-43D2-B96B-7129E1F9C734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4760026" y="2396862"/>
            <a:ext cx="82137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A5793CB-106C-481D-9A4D-16CC46747D68}"/>
              </a:ext>
            </a:extLst>
          </p:cNvPr>
          <p:cNvSpPr txBox="1"/>
          <p:nvPr/>
        </p:nvSpPr>
        <p:spPr>
          <a:xfrm>
            <a:off x="1193471" y="3589615"/>
            <a:ext cx="855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PXRD</a:t>
            </a:r>
            <a:endParaRPr lang="zh-CN" altLang="en-US" dirty="0"/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CD06DBE1-963A-44B7-A916-8A195D507CD9}"/>
              </a:ext>
            </a:extLst>
          </p:cNvPr>
          <p:cNvCxnSpPr>
            <a:stCxn id="16" idx="3"/>
          </p:cNvCxnSpPr>
          <p:nvPr/>
        </p:nvCxnSpPr>
        <p:spPr>
          <a:xfrm>
            <a:off x="2048494" y="3774281"/>
            <a:ext cx="1068780" cy="534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4991E171-8484-4F95-A833-3D3F3F254125}"/>
              </a:ext>
            </a:extLst>
          </p:cNvPr>
          <p:cNvSpPr txBox="1"/>
          <p:nvPr/>
        </p:nvSpPr>
        <p:spPr>
          <a:xfrm>
            <a:off x="5581404" y="3589615"/>
            <a:ext cx="3734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Crystal Structure Generation 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5FBFFD91-F4C1-4CFB-8537-AC6A99FF9099}"/>
              </a:ext>
            </a:extLst>
          </p:cNvPr>
          <p:cNvSpPr txBox="1"/>
          <p:nvPr/>
        </p:nvSpPr>
        <p:spPr>
          <a:xfrm>
            <a:off x="3117274" y="3589615"/>
            <a:ext cx="1632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PXRD Encoder</a:t>
            </a:r>
            <a:endParaRPr lang="zh-CN" altLang="en-US" dirty="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0392C36B-3099-4EB8-A127-0FC2837818C5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4760026" y="3774281"/>
            <a:ext cx="82137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文本框 20">
            <a:extLst>
              <a:ext uri="{FF2B5EF4-FFF2-40B4-BE49-F238E27FC236}">
                <a16:creationId xmlns:a16="http://schemas.microsoft.com/office/drawing/2014/main" id="{943F19A9-CDCB-4DB5-BD65-85EAC004FE49}"/>
              </a:ext>
            </a:extLst>
          </p:cNvPr>
          <p:cNvSpPr txBox="1"/>
          <p:nvPr/>
        </p:nvSpPr>
        <p:spPr>
          <a:xfrm>
            <a:off x="3770416" y="4542013"/>
            <a:ext cx="1050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CellNet</a:t>
            </a:r>
            <a:endParaRPr lang="zh-CN" altLang="en-US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318B471-675E-4EFE-9681-F21499B013E7}"/>
              </a:ext>
            </a:extLst>
          </p:cNvPr>
          <p:cNvCxnSpPr>
            <a:cxnSpLocks/>
          </p:cNvCxnSpPr>
          <p:nvPr/>
        </p:nvCxnSpPr>
        <p:spPr>
          <a:xfrm>
            <a:off x="4750131" y="4726678"/>
            <a:ext cx="884711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框 22">
            <a:extLst>
              <a:ext uri="{FF2B5EF4-FFF2-40B4-BE49-F238E27FC236}">
                <a16:creationId xmlns:a16="http://schemas.microsoft.com/office/drawing/2014/main" id="{E167CDB6-5316-4060-AC0E-729F316CBDB6}"/>
              </a:ext>
            </a:extLst>
          </p:cNvPr>
          <p:cNvSpPr txBox="1"/>
          <p:nvPr/>
        </p:nvSpPr>
        <p:spPr>
          <a:xfrm>
            <a:off x="5676406" y="4547951"/>
            <a:ext cx="884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Lattice</a:t>
            </a:r>
            <a:endParaRPr lang="zh-CN" altLang="en-US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A919E394-C57D-4EE2-9D1E-381FF96BB60A}"/>
              </a:ext>
            </a:extLst>
          </p:cNvPr>
          <p:cNvCxnSpPr>
            <a:cxnSpLocks/>
          </p:cNvCxnSpPr>
          <p:nvPr/>
        </p:nvCxnSpPr>
        <p:spPr>
          <a:xfrm flipV="1">
            <a:off x="6110844" y="4070566"/>
            <a:ext cx="0" cy="377041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B965F32-FC0B-4A61-AD7F-B818AB7BED51}"/>
              </a:ext>
            </a:extLst>
          </p:cNvPr>
          <p:cNvCxnSpPr>
            <a:cxnSpLocks/>
          </p:cNvCxnSpPr>
          <p:nvPr/>
        </p:nvCxnSpPr>
        <p:spPr>
          <a:xfrm>
            <a:off x="8494815" y="2396862"/>
            <a:ext cx="82137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6E1AE1AD-7587-404A-96D5-9868816B0264}"/>
              </a:ext>
            </a:extLst>
          </p:cNvPr>
          <p:cNvSpPr txBox="1"/>
          <p:nvPr/>
        </p:nvSpPr>
        <p:spPr>
          <a:xfrm>
            <a:off x="9464635" y="2073696"/>
            <a:ext cx="1448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Lattice and Coordinates</a:t>
            </a:r>
            <a:endParaRPr lang="zh-CN" altLang="en-US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871EB490-6F48-4EED-A6AB-BB3E2CE16B4A}"/>
              </a:ext>
            </a:extLst>
          </p:cNvPr>
          <p:cNvCxnSpPr>
            <a:cxnSpLocks/>
          </p:cNvCxnSpPr>
          <p:nvPr/>
        </p:nvCxnSpPr>
        <p:spPr>
          <a:xfrm>
            <a:off x="8494815" y="3774281"/>
            <a:ext cx="821378" cy="0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文本框 27">
            <a:extLst>
              <a:ext uri="{FF2B5EF4-FFF2-40B4-BE49-F238E27FC236}">
                <a16:creationId xmlns:a16="http://schemas.microsoft.com/office/drawing/2014/main" id="{4564E3B0-7266-4B59-89C0-EF3E74C80EB5}"/>
              </a:ext>
            </a:extLst>
          </p:cNvPr>
          <p:cNvSpPr txBox="1"/>
          <p:nvPr/>
        </p:nvSpPr>
        <p:spPr>
          <a:xfrm>
            <a:off x="9464635" y="3574332"/>
            <a:ext cx="1448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Coordinates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8280F81-14BE-4D4E-A3F0-DEE7DA17102E}"/>
              </a:ext>
            </a:extLst>
          </p:cNvPr>
          <p:cNvSpPr txBox="1"/>
          <p:nvPr/>
        </p:nvSpPr>
        <p:spPr>
          <a:xfrm>
            <a:off x="3722915" y="3099002"/>
            <a:ext cx="564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①</a:t>
            </a:r>
          </a:p>
        </p:txBody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1E9A3A50-019C-4142-9C1E-9EFDDCA7F4DC}"/>
              </a:ext>
            </a:extLst>
          </p:cNvPr>
          <p:cNvSpPr/>
          <p:nvPr/>
        </p:nvSpPr>
        <p:spPr>
          <a:xfrm>
            <a:off x="3182586" y="3574332"/>
            <a:ext cx="1490353" cy="448174"/>
          </a:xfrm>
          <a:prstGeom prst="roundRect">
            <a:avLst/>
          </a:prstGeom>
          <a:noFill/>
          <a:ln w="19050"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C424241D-2F98-4D54-9AAB-CCAEEAFA8F9E}"/>
              </a:ext>
            </a:extLst>
          </p:cNvPr>
          <p:cNvSpPr/>
          <p:nvPr/>
        </p:nvSpPr>
        <p:spPr>
          <a:xfrm>
            <a:off x="3722914" y="4070567"/>
            <a:ext cx="2778825" cy="946758"/>
          </a:xfrm>
          <a:prstGeom prst="roundRect">
            <a:avLst/>
          </a:prstGeom>
          <a:noFill/>
          <a:ln w="19050">
            <a:solidFill>
              <a:schemeClr val="accent6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191E0AA-0013-40F8-B25B-2E4737E7CA8B}"/>
              </a:ext>
            </a:extLst>
          </p:cNvPr>
          <p:cNvSpPr txBox="1"/>
          <p:nvPr/>
        </p:nvSpPr>
        <p:spPr>
          <a:xfrm>
            <a:off x="4910447" y="5185054"/>
            <a:ext cx="564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②</a:t>
            </a:r>
          </a:p>
        </p:txBody>
      </p:sp>
      <p:sp>
        <p:nvSpPr>
          <p:cNvPr id="33" name="矩形: 圆角 32">
            <a:extLst>
              <a:ext uri="{FF2B5EF4-FFF2-40B4-BE49-F238E27FC236}">
                <a16:creationId xmlns:a16="http://schemas.microsoft.com/office/drawing/2014/main" id="{4199BC51-18AA-4821-A792-BC7E4C356A51}"/>
              </a:ext>
            </a:extLst>
          </p:cNvPr>
          <p:cNvSpPr/>
          <p:nvPr/>
        </p:nvSpPr>
        <p:spPr>
          <a:xfrm>
            <a:off x="5634842" y="3559629"/>
            <a:ext cx="2939143" cy="432870"/>
          </a:xfrm>
          <a:prstGeom prst="roundRect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A1E50CB1-E8AD-4320-A90C-F4D87F553FA1}"/>
              </a:ext>
            </a:extLst>
          </p:cNvPr>
          <p:cNvSpPr txBox="1"/>
          <p:nvPr/>
        </p:nvSpPr>
        <p:spPr>
          <a:xfrm>
            <a:off x="6757060" y="3108663"/>
            <a:ext cx="5640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③</a:t>
            </a:r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19C9DF3B-A6AB-48AC-A249-602364CBD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471" y="1131080"/>
            <a:ext cx="9048630" cy="646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490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C21A226-320C-4D73-B820-FDF68EF45D6B}"/>
              </a:ext>
            </a:extLst>
          </p:cNvPr>
          <p:cNvSpPr txBox="1"/>
          <p:nvPr/>
        </p:nvSpPr>
        <p:spPr>
          <a:xfrm>
            <a:off x="718457" y="510639"/>
            <a:ext cx="2280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第一步，对比学习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B633024-E75E-4ED6-A36C-8495D050C81F}"/>
              </a:ext>
            </a:extLst>
          </p:cNvPr>
          <p:cNvSpPr txBox="1"/>
          <p:nvPr/>
        </p:nvSpPr>
        <p:spPr>
          <a:xfrm>
            <a:off x="1365662" y="1814254"/>
            <a:ext cx="1632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PXRD Encoder</a:t>
            </a:r>
            <a:endParaRPr lang="zh-CN" altLang="en-US" dirty="0"/>
          </a:p>
        </p:txBody>
      </p:sp>
      <p:sp>
        <p:nvSpPr>
          <p:cNvPr id="6" name="左大括号 5">
            <a:extLst>
              <a:ext uri="{FF2B5EF4-FFF2-40B4-BE49-F238E27FC236}">
                <a16:creationId xmlns:a16="http://schemas.microsoft.com/office/drawing/2014/main" id="{F0AD505E-6239-421E-8419-4077B77FA2E7}"/>
              </a:ext>
            </a:extLst>
          </p:cNvPr>
          <p:cNvSpPr/>
          <p:nvPr/>
        </p:nvSpPr>
        <p:spPr>
          <a:xfrm>
            <a:off x="3046020" y="1680358"/>
            <a:ext cx="160317" cy="754084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62023E2-ACA0-45B6-A500-68ED402DB1F0}"/>
              </a:ext>
            </a:extLst>
          </p:cNvPr>
          <p:cNvSpPr txBox="1"/>
          <p:nvPr/>
        </p:nvSpPr>
        <p:spPr>
          <a:xfrm>
            <a:off x="3307278" y="1573481"/>
            <a:ext cx="801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CNN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6F299E-C19A-4148-BDCB-9DF11DC0D628}"/>
              </a:ext>
            </a:extLst>
          </p:cNvPr>
          <p:cNvSpPr txBox="1"/>
          <p:nvPr/>
        </p:nvSpPr>
        <p:spPr>
          <a:xfrm>
            <a:off x="3307278" y="2065110"/>
            <a:ext cx="1561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Transformer</a:t>
            </a:r>
            <a:endParaRPr lang="zh-CN" altLang="en-US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311585B-FACB-4763-BF53-2297BA3FBF2F}"/>
              </a:ext>
            </a:extLst>
          </p:cNvPr>
          <p:cNvCxnSpPr/>
          <p:nvPr/>
        </p:nvCxnSpPr>
        <p:spPr>
          <a:xfrm>
            <a:off x="4975761" y="1998920"/>
            <a:ext cx="1496291" cy="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2FD57DD4-321B-43E2-9C7E-DA485D804ABD}"/>
              </a:ext>
            </a:extLst>
          </p:cNvPr>
          <p:cNvSpPr txBox="1"/>
          <p:nvPr/>
        </p:nvSpPr>
        <p:spPr>
          <a:xfrm>
            <a:off x="6608619" y="1814254"/>
            <a:ext cx="2873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Structure Encoder (GNN)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1553020-616A-4F5B-A873-75C5030C921E}"/>
              </a:ext>
            </a:extLst>
          </p:cNvPr>
          <p:cNvSpPr txBox="1"/>
          <p:nvPr/>
        </p:nvSpPr>
        <p:spPr>
          <a:xfrm>
            <a:off x="765958" y="3352109"/>
            <a:ext cx="2280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第二步，</a:t>
            </a:r>
            <a:r>
              <a:rPr lang="en-US" altLang="zh-CN" dirty="0"/>
              <a:t>Lattice</a:t>
            </a:r>
            <a:r>
              <a:rPr lang="zh-CN" altLang="en-US" dirty="0"/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80D0513-9D62-4D21-B710-3A31BD58C808}"/>
              </a:ext>
            </a:extLst>
          </p:cNvPr>
          <p:cNvSpPr txBox="1"/>
          <p:nvPr/>
        </p:nvSpPr>
        <p:spPr>
          <a:xfrm>
            <a:off x="2761013" y="4845133"/>
            <a:ext cx="1083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Diffusion</a:t>
            </a:r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2B3490C3-AB7B-4E1F-BE5F-326C1795392A}"/>
              </a:ext>
            </a:extLst>
          </p:cNvPr>
          <p:cNvCxnSpPr/>
          <p:nvPr/>
        </p:nvCxnSpPr>
        <p:spPr>
          <a:xfrm>
            <a:off x="3969329" y="5043746"/>
            <a:ext cx="53438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6235A1C9-C9D6-4090-83E5-7ED0A32ADEB9}"/>
              </a:ext>
            </a:extLst>
          </p:cNvPr>
          <p:cNvSpPr txBox="1"/>
          <p:nvPr/>
        </p:nvSpPr>
        <p:spPr>
          <a:xfrm>
            <a:off x="4628409" y="4859080"/>
            <a:ext cx="1341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</a:t>
            </a:r>
            <a:r>
              <a:rPr lang="zh-CN" altLang="en-US" dirty="0"/>
              <a:t>个</a:t>
            </a:r>
            <a:r>
              <a:rPr lang="en-US" altLang="zh-CN" dirty="0"/>
              <a:t>Lattice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52C738E4-1773-4FF7-9CA2-695829A45929}"/>
              </a:ext>
            </a:extLst>
          </p:cNvPr>
          <p:cNvCxnSpPr/>
          <p:nvPr/>
        </p:nvCxnSpPr>
        <p:spPr>
          <a:xfrm>
            <a:off x="5940634" y="5049684"/>
            <a:ext cx="53438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C76C051B-5E5B-4859-A594-953BD01B470C}"/>
              </a:ext>
            </a:extLst>
          </p:cNvPr>
          <p:cNvSpPr txBox="1"/>
          <p:nvPr/>
        </p:nvSpPr>
        <p:spPr>
          <a:xfrm>
            <a:off x="6522525" y="4720580"/>
            <a:ext cx="13419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选择</a:t>
            </a:r>
            <a:r>
              <a:rPr lang="en-US" altLang="zh-CN" dirty="0"/>
              <a:t>1</a:t>
            </a:r>
            <a:r>
              <a:rPr lang="zh-CN" altLang="en-US" dirty="0"/>
              <a:t>个最合适的</a:t>
            </a:r>
          </a:p>
        </p:txBody>
      </p:sp>
      <p:sp>
        <p:nvSpPr>
          <p:cNvPr id="20" name="左大括号 19">
            <a:extLst>
              <a:ext uri="{FF2B5EF4-FFF2-40B4-BE49-F238E27FC236}">
                <a16:creationId xmlns:a16="http://schemas.microsoft.com/office/drawing/2014/main" id="{E905DC0E-2D31-4FA8-A0A4-1BAF27216065}"/>
              </a:ext>
            </a:extLst>
          </p:cNvPr>
          <p:cNvSpPr/>
          <p:nvPr/>
        </p:nvSpPr>
        <p:spPr>
          <a:xfrm>
            <a:off x="7911939" y="4666703"/>
            <a:ext cx="160317" cy="754084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9972660-F2AD-465E-AAED-B3845E14F5A9}"/>
              </a:ext>
            </a:extLst>
          </p:cNvPr>
          <p:cNvSpPr txBox="1"/>
          <p:nvPr/>
        </p:nvSpPr>
        <p:spPr>
          <a:xfrm>
            <a:off x="8247416" y="4535914"/>
            <a:ext cx="3114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直接和真实</a:t>
            </a:r>
            <a:r>
              <a:rPr lang="en-US" altLang="zh-CN" dirty="0"/>
              <a:t>L</a:t>
            </a:r>
            <a:r>
              <a:rPr lang="zh-CN" altLang="en-US" dirty="0"/>
              <a:t>比较，计算</a:t>
            </a:r>
            <a:r>
              <a:rPr lang="en-US" altLang="zh-CN" dirty="0"/>
              <a:t>MAE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160D0D9-F821-4E70-9E11-212B2D24E30C}"/>
              </a:ext>
            </a:extLst>
          </p:cNvPr>
          <p:cNvSpPr txBox="1"/>
          <p:nvPr/>
        </p:nvSpPr>
        <p:spPr>
          <a:xfrm>
            <a:off x="8247416" y="5051455"/>
            <a:ext cx="3114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Fastdtw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721EFDD-C36F-4E89-9E62-6AFFE63C771F}"/>
              </a:ext>
            </a:extLst>
          </p:cNvPr>
          <p:cNvSpPr txBox="1"/>
          <p:nvPr/>
        </p:nvSpPr>
        <p:spPr>
          <a:xfrm>
            <a:off x="1500745" y="3845649"/>
            <a:ext cx="855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PXRD</a:t>
            </a:r>
            <a:endParaRPr lang="zh-CN" altLang="en-US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47411C5-B5C8-426C-92AB-C8759A445568}"/>
              </a:ext>
            </a:extLst>
          </p:cNvPr>
          <p:cNvCxnSpPr>
            <a:cxnSpLocks/>
          </p:cNvCxnSpPr>
          <p:nvPr/>
        </p:nvCxnSpPr>
        <p:spPr>
          <a:xfrm>
            <a:off x="2219201" y="4030315"/>
            <a:ext cx="43345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8833FE4-D176-4B0C-9169-B1C43345A486}"/>
              </a:ext>
            </a:extLst>
          </p:cNvPr>
          <p:cNvSpPr txBox="1"/>
          <p:nvPr/>
        </p:nvSpPr>
        <p:spPr>
          <a:xfrm>
            <a:off x="2573979" y="3843576"/>
            <a:ext cx="2401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PXRD Encoder (CNN)</a:t>
            </a:r>
            <a:endParaRPr lang="zh-CN" altLang="en-US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4182E65-5CD9-4205-B2AA-4CA7FEC6DDA2}"/>
              </a:ext>
            </a:extLst>
          </p:cNvPr>
          <p:cNvCxnSpPr>
            <a:cxnSpLocks/>
          </p:cNvCxnSpPr>
          <p:nvPr/>
        </p:nvCxnSpPr>
        <p:spPr>
          <a:xfrm>
            <a:off x="3293925" y="4271413"/>
            <a:ext cx="0" cy="39529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632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C21A226-320C-4D73-B820-FDF68EF45D6B}"/>
              </a:ext>
            </a:extLst>
          </p:cNvPr>
          <p:cNvSpPr txBox="1"/>
          <p:nvPr/>
        </p:nvSpPr>
        <p:spPr>
          <a:xfrm>
            <a:off x="718457" y="510639"/>
            <a:ext cx="2280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第三步，结构生成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721EFDD-C36F-4E89-9E62-6AFFE63C771F}"/>
              </a:ext>
            </a:extLst>
          </p:cNvPr>
          <p:cNvSpPr txBox="1"/>
          <p:nvPr/>
        </p:nvSpPr>
        <p:spPr>
          <a:xfrm>
            <a:off x="1080654" y="2135602"/>
            <a:ext cx="8550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PXRD</a:t>
            </a:r>
            <a:endParaRPr lang="zh-CN" altLang="en-US" dirty="0"/>
          </a:p>
        </p:txBody>
      </p: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F47411C5-B5C8-426C-92AB-C8759A445568}"/>
              </a:ext>
            </a:extLst>
          </p:cNvPr>
          <p:cNvCxnSpPr>
            <a:cxnSpLocks/>
          </p:cNvCxnSpPr>
          <p:nvPr/>
        </p:nvCxnSpPr>
        <p:spPr>
          <a:xfrm>
            <a:off x="1799110" y="2320268"/>
            <a:ext cx="433451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文本框 24">
            <a:extLst>
              <a:ext uri="{FF2B5EF4-FFF2-40B4-BE49-F238E27FC236}">
                <a16:creationId xmlns:a16="http://schemas.microsoft.com/office/drawing/2014/main" id="{B8833FE4-D176-4B0C-9169-B1C43345A486}"/>
              </a:ext>
            </a:extLst>
          </p:cNvPr>
          <p:cNvSpPr txBox="1"/>
          <p:nvPr/>
        </p:nvSpPr>
        <p:spPr>
          <a:xfrm>
            <a:off x="2153888" y="2133529"/>
            <a:ext cx="24017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PXRD Encoder (CNN)</a:t>
            </a:r>
            <a:endParaRPr lang="zh-CN" altLang="en-US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24182E65-5CD9-4205-B2AA-4CA7FEC6DDA2}"/>
              </a:ext>
            </a:extLst>
          </p:cNvPr>
          <p:cNvCxnSpPr>
            <a:cxnSpLocks/>
          </p:cNvCxnSpPr>
          <p:nvPr/>
        </p:nvCxnSpPr>
        <p:spPr>
          <a:xfrm>
            <a:off x="4382001" y="2318195"/>
            <a:ext cx="52992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左大括号 25">
            <a:extLst>
              <a:ext uri="{FF2B5EF4-FFF2-40B4-BE49-F238E27FC236}">
                <a16:creationId xmlns:a16="http://schemas.microsoft.com/office/drawing/2014/main" id="{F7AB507F-C4E1-4E3C-85EA-116A9C2C90EF}"/>
              </a:ext>
            </a:extLst>
          </p:cNvPr>
          <p:cNvSpPr/>
          <p:nvPr/>
        </p:nvSpPr>
        <p:spPr>
          <a:xfrm>
            <a:off x="7866410" y="1941153"/>
            <a:ext cx="160317" cy="754084"/>
          </a:xfrm>
          <a:prstGeom prst="lef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DDB81FBD-65FA-40BE-943C-1B6D11A7CF8C}"/>
              </a:ext>
            </a:extLst>
          </p:cNvPr>
          <p:cNvSpPr txBox="1"/>
          <p:nvPr/>
        </p:nvSpPr>
        <p:spPr>
          <a:xfrm>
            <a:off x="4882731" y="2133529"/>
            <a:ext cx="30282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Crystal Structure Generation </a:t>
            </a:r>
            <a:endParaRPr lang="zh-CN" altLang="en-US" dirty="0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FA21D39-401D-46E6-B52B-508E5EB1841D}"/>
              </a:ext>
            </a:extLst>
          </p:cNvPr>
          <p:cNvSpPr txBox="1"/>
          <p:nvPr/>
        </p:nvSpPr>
        <p:spPr>
          <a:xfrm>
            <a:off x="8026727" y="1860675"/>
            <a:ext cx="1083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Diffusion</a:t>
            </a:r>
            <a:endParaRPr lang="zh-CN" altLang="en-US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54239C3-5F01-440F-ABED-29756DA4E7B4}"/>
              </a:ext>
            </a:extLst>
          </p:cNvPr>
          <p:cNvSpPr txBox="1"/>
          <p:nvPr/>
        </p:nvSpPr>
        <p:spPr>
          <a:xfrm>
            <a:off x="8074229" y="2325905"/>
            <a:ext cx="10836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Flow</a:t>
            </a:r>
            <a:endParaRPr lang="zh-CN" altLang="en-US" dirty="0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CFFE8D57-E19E-41BC-ABDE-C3571827E90C}"/>
              </a:ext>
            </a:extLst>
          </p:cNvPr>
          <p:cNvSpPr txBox="1"/>
          <p:nvPr/>
        </p:nvSpPr>
        <p:spPr>
          <a:xfrm>
            <a:off x="5892136" y="3187166"/>
            <a:ext cx="884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Lattice</a:t>
            </a:r>
            <a:endParaRPr lang="zh-CN" altLang="en-US" dirty="0"/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2908E7C2-A4C2-40B0-88F5-729D3BF3FEF6}"/>
              </a:ext>
            </a:extLst>
          </p:cNvPr>
          <p:cNvCxnSpPr>
            <a:cxnSpLocks/>
          </p:cNvCxnSpPr>
          <p:nvPr/>
        </p:nvCxnSpPr>
        <p:spPr>
          <a:xfrm flipV="1">
            <a:off x="6334491" y="2624447"/>
            <a:ext cx="0" cy="49036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1A078BD-2B95-4C7D-8757-298023B7F4A8}"/>
              </a:ext>
            </a:extLst>
          </p:cNvPr>
          <p:cNvCxnSpPr>
            <a:cxnSpLocks/>
          </p:cNvCxnSpPr>
          <p:nvPr/>
        </p:nvCxnSpPr>
        <p:spPr>
          <a:xfrm>
            <a:off x="9050983" y="2318195"/>
            <a:ext cx="52992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475F6AA4-98D1-419A-8951-1FF654739D33}"/>
              </a:ext>
            </a:extLst>
          </p:cNvPr>
          <p:cNvSpPr txBox="1"/>
          <p:nvPr/>
        </p:nvSpPr>
        <p:spPr>
          <a:xfrm>
            <a:off x="9589827" y="2133529"/>
            <a:ext cx="14205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N Structure</a:t>
            </a:r>
            <a:endParaRPr lang="zh-CN" altLang="en-US" dirty="0"/>
          </a:p>
        </p:txBody>
      </p: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C6A51A11-9AA0-481A-8A84-AC85CEC18751}"/>
              </a:ext>
            </a:extLst>
          </p:cNvPr>
          <p:cNvCxnSpPr>
            <a:cxnSpLocks/>
          </p:cNvCxnSpPr>
          <p:nvPr/>
        </p:nvCxnSpPr>
        <p:spPr>
          <a:xfrm>
            <a:off x="10300116" y="2660487"/>
            <a:ext cx="0" cy="41828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35">
            <a:extLst>
              <a:ext uri="{FF2B5EF4-FFF2-40B4-BE49-F238E27FC236}">
                <a16:creationId xmlns:a16="http://schemas.microsoft.com/office/drawing/2014/main" id="{59BAC8B5-431E-4785-A160-7EFF8AF3FAD8}"/>
              </a:ext>
            </a:extLst>
          </p:cNvPr>
          <p:cNvSpPr txBox="1"/>
          <p:nvPr/>
        </p:nvSpPr>
        <p:spPr>
          <a:xfrm>
            <a:off x="9690767" y="3187166"/>
            <a:ext cx="1420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match rate + RMSE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715988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</TotalTime>
  <Words>89</Words>
  <Application>Microsoft Office PowerPoint</Application>
  <PresentationFormat>宽屏</PresentationFormat>
  <Paragraphs>35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peiru wang</dc:creator>
  <cp:lastModifiedBy>peiru wang</cp:lastModifiedBy>
  <cp:revision>6</cp:revision>
  <dcterms:created xsi:type="dcterms:W3CDTF">2026-03-26T12:52:12Z</dcterms:created>
  <dcterms:modified xsi:type="dcterms:W3CDTF">2026-03-26T14:13:00Z</dcterms:modified>
</cp:coreProperties>
</file>